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3" Type="http://schemas.openxmlformats.org/officeDocument/2006/relationships/viewProps" Target="viewProps.xml" /><Relationship Id="rId22" Type="http://schemas.openxmlformats.org/officeDocument/2006/relationships/presProps" Target="presProps.xml" /><Relationship Id="rId1" Type="http://schemas.openxmlformats.org/officeDocument/2006/relationships/slideMaster" Target="slideMasters/slideMaster1.xml" /><Relationship Id="rId25" Type="http://schemas.openxmlformats.org/officeDocument/2006/relationships/tableStyles" Target="tableStyles.xml" /><Relationship Id="rId2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Executive Presentation Slides</a:t>
            </a:r>
          </a:p>
        </p:txBody>
      </p:sp>
      <p:sp>
        <p:nvSpPr>
          <p:cNvPr id="3" name="Content Placeholder 2"/>
          <p:cNvSpPr>
            <a:spLocks noGrp="1"/>
          </p:cNvSpPr>
          <p:nvPr>
            <p:ph idx="1"/>
          </p:nvPr>
        </p:nvSpPr>
        <p:spPr/>
        <p:txBody>
          <a:bodyPr/>
          <a:lstStyle/>
          <a:p>
            <a:pPr lvl="0" indent="0" marL="0">
              <a:buNone/>
            </a:pPr>
            <a:r>
              <a:rPr b="1"/>
              <a:t>PowerPoint Slide Content - HSCP &amp; CGI</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 TITLE SLIDE</a:t>
            </a:r>
          </a:p>
          <a:p>
            <a:pPr lvl="0" indent="0" marL="0">
              <a:buNone/>
            </a:pPr>
            <a:r>
              <a:rPr b="1"/>
              <a:t>Title:</a:t>
            </a:r>
            <a:r>
              <a:rPr/>
              <a:t> Glasgow HSCP Staff Rota Management System</a:t>
            </a:r>
            <a:br/>
            <a:r>
              <a:rPr b="1"/>
              <a:t>Subtitle:</a:t>
            </a:r>
            <a:r>
              <a:rPr/>
              <a:t> ML-Enhanced Scheduling for Older People’s Care Homes</a:t>
            </a:r>
            <a:br/>
            <a:r>
              <a:rPr b="1"/>
              <a:t>Presenter:</a:t>
            </a:r>
            <a:r>
              <a:rPr/>
              <a:t> [Your Name], [Title]</a:t>
            </a:r>
            <a:br/>
            <a:r>
              <a:rPr b="1"/>
              <a:t>Date:</a:t>
            </a:r>
            <a:r>
              <a:rPr/>
              <a:t> January 2026</a:t>
            </a:r>
            <a:br/>
            <a:r>
              <a:rPr b="1"/>
              <a:t>Audience:</a:t>
            </a:r>
            <a:r>
              <a:rPr/>
              <a:t> HSCP Executive Board &amp; CGI Digital Partner</a:t>
            </a:r>
          </a:p>
          <a:p>
            <a:pPr lvl="0" indent="0" marL="0">
              <a:buNone/>
            </a:pPr>
            <a:r>
              <a:rPr b="1"/>
              <a:t>Visual Elements:</a:t>
            </a:r>
            <a:r>
              <a:rPr/>
              <a:t> - Glasgow HSCP logo (top left) - System dashboard screenshot (background, 40% opacity) - Tagline: “Proven. Secure. Production-Ready.”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2: THE CHALLENGE</a:t>
            </a:r>
          </a:p>
          <a:p>
            <a:pPr lvl="0" indent="0" marL="0">
              <a:buNone/>
            </a:pPr>
            <a:r>
              <a:rPr b="1"/>
              <a:t>Title:</a:t>
            </a:r>
            <a:r>
              <a:rPr/>
              <a:t> Current Manual Scheduling - The Hidden Costs</a:t>
            </a:r>
          </a:p>
          <a:p>
            <a:pPr lvl="0" indent="0" marL="0">
              <a:buNone/>
            </a:pPr>
            <a:r>
              <a:rPr b="1"/>
              <a:t>Content:</a:t>
            </a:r>
          </a:p>
          <a:p>
            <a:pPr lvl="0" indent="0" marL="0">
              <a:buNone/>
            </a:pPr>
            <a:r>
              <a:rPr b="1"/>
              <a:t>3,264 Hours Lost Annually</a:t>
            </a:r>
            <a:r>
              <a:rPr/>
              <a:t> - 9 Operations Managers × 7 hours/week - £81,000 in labour costs - Time diverted from patient care</a:t>
            </a:r>
          </a:p>
          <a:p>
            <a:pPr lvl="0" indent="0" marL="0">
              <a:buNone/>
            </a:pPr>
            <a:r>
              <a:rPr b="1"/>
              <a:t>Operational Inefficiencies</a:t>
            </a:r>
            <a:r>
              <a:rPr/>
              <a:t> - ❌ Reactive agency bookings (£40/hour emergency rates) - ❌ Manual WTD compliance tracking (audit risk) - ❌ No forecasting capability (gaps discovered late)</a:t>
            </a:r>
          </a:p>
          <a:p>
            <a:pPr lvl="0" indent="0" marL="0">
              <a:buNone/>
            </a:pPr>
            <a:r>
              <a:rPr b="1"/>
              <a:t>The Question:</a:t>
            </a:r>
            <a:br/>
            <a:r>
              <a:rPr i="1"/>
              <a:t>Can technology eliminate these inefficiencies while maintaining managerial flexibility?</a:t>
            </a:r>
          </a:p>
          <a:p>
            <a:pPr lvl="0" indent="0" marL="0">
              <a:buNone/>
            </a:pPr>
            <a:r>
              <a:rPr b="1"/>
              <a:t>Visual Elements:</a:t>
            </a:r>
            <a:r>
              <a:rPr/>
              <a:t> - Process flow diagram: Leave request → Manual review → Shift pattern update → Gap coverage → Agency call - Red highlights on pain points - Clock icon showing “7 hours weekly per OM”</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3: THE SOLUTION</a:t>
            </a:r>
          </a:p>
          <a:p>
            <a:pPr lvl="0" indent="0" marL="0">
              <a:buNone/>
            </a:pPr>
            <a:r>
              <a:rPr b="1"/>
              <a:t>Title:</a:t>
            </a:r>
            <a:r>
              <a:rPr/>
              <a:t> ML-Enhanced Scheduling Platform</a:t>
            </a:r>
          </a:p>
          <a:p>
            <a:pPr lvl="0" indent="0" marL="0">
              <a:buNone/>
            </a:pPr>
            <a:r>
              <a:rPr b="1"/>
              <a:t>Content:</a:t>
            </a:r>
          </a:p>
          <a:p>
            <a:pPr lvl="0" indent="0" marL="0">
              <a:buNone/>
            </a:pPr>
            <a:r>
              <a:rPr b="1"/>
              <a:t>Three Proven Technologies:</a:t>
            </a:r>
          </a:p>
          <a:p>
            <a:pPr lvl="0" indent="0" marL="0">
              <a:buNone/>
            </a:pPr>
            <a:r>
              <a:rPr b="1"/>
              <a:t>1. Django 4.2 LTS</a:t>
            </a:r>
            <a:r>
              <a:rPr/>
              <a:t> - Used by Instagram, NHS Digital - Production-proven framework - Long-term support (April 2026)</a:t>
            </a:r>
          </a:p>
          <a:p>
            <a:pPr lvl="0" indent="0" marL="0">
              <a:buNone/>
            </a:pPr>
            <a:r>
              <a:rPr b="1"/>
              <a:t>2. Prophet ML Forecasting</a:t>
            </a:r>
            <a:r>
              <a:rPr/>
              <a:t> - Facebook’s open-source algorithm - 39 trained models (one per unit) - 30-day predictions with 80% confidence</a:t>
            </a:r>
          </a:p>
          <a:p>
            <a:pPr lvl="0" indent="0" marL="0">
              <a:buNone/>
            </a:pPr>
            <a:r>
              <a:rPr b="1"/>
              <a:t>3. Linear Programming Optimization</a:t>
            </a:r>
            <a:r>
              <a:rPr/>
              <a:t> - 5 constraint types: Coverage | Availability | Qualifications | Fairness | WTD - &lt;1 second optimization time - 12.6% cost reduction</a:t>
            </a:r>
          </a:p>
          <a:p>
            <a:pPr lvl="0" indent="0" marL="0">
              <a:buNone/>
            </a:pPr>
            <a:r>
              <a:rPr b="1"/>
              <a:t>Visual Elements:</a:t>
            </a:r>
            <a:r>
              <a:rPr/>
              <a:t> - Architecture diagram: Django (UI) → Prophet (Forecasting) → LP Optimizer (Scheduling) → PostgreSQL (Data) - Technology logos: Django, Prophet, PuLP - Blue/green color scheme (professional, healthcare-appropriate)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4: PROVEN PERFORMANCE</a:t>
            </a:r>
          </a:p>
          <a:p>
            <a:pPr lvl="0" indent="0" marL="0">
              <a:buNone/>
            </a:pPr>
            <a:r>
              <a:rPr b="1"/>
              <a:t>Title:</a:t>
            </a:r>
            <a:r>
              <a:rPr/>
              <a:t> Production-Scale Validation</a:t>
            </a:r>
          </a:p>
          <a:p>
            <a:pPr lvl="0" indent="0" marL="0">
              <a:buNone/>
            </a:pPr>
            <a:r>
              <a:rPr b="1"/>
              <a:t>Content:</a:t>
            </a:r>
          </a:p>
          <a:p>
            <a:pPr lvl="0" indent="0" marL="0">
              <a:buNone/>
            </a:pPr>
            <a:r>
              <a:rPr b="1"/>
              <a:t>Operational Metrics</a:t>
            </a:r>
            <a:r>
              <a:rPr/>
              <a:t> - ✅ 103,074 shifts generated - ✅ 1,350 staff members managed - ✅ 5 homes, 42 units, 220 beds - ✅ 93.6% citywide occupancy</a:t>
            </a:r>
          </a:p>
          <a:p>
            <a:pPr lvl="0" indent="0" marL="0">
              <a:buNone/>
            </a:pPr>
            <a:r>
              <a:rPr b="1"/>
              <a:t>Performance Benchmarks</a:t>
            </a:r>
            <a:r>
              <a:rPr/>
              <a:t> - </a:t>
            </a:r>
            <a:r>
              <a:rPr b="1"/>
              <a:t>300 concurrent users</a:t>
            </a:r>
            <a:r>
              <a:rPr/>
              <a:t> validated (3x requirement) - </a:t>
            </a:r>
            <a:r>
              <a:rPr b="1"/>
              <a:t>180ms</a:t>
            </a:r>
            <a:r>
              <a:rPr/>
              <a:t> dashboard load (target: 500ms) 🟢 </a:t>
            </a:r>
            <a:r>
              <a:rPr b="1"/>
              <a:t>64% faster</a:t>
            </a:r>
            <a:r>
              <a:rPr/>
              <a:t> - </a:t>
            </a:r>
            <a:r>
              <a:rPr b="1"/>
              <a:t>0.8 seconds</a:t>
            </a:r>
            <a:r>
              <a:rPr/>
              <a:t> shift optimization (vs 7 hours manual) - </a:t>
            </a:r>
            <a:r>
              <a:rPr b="1"/>
              <a:t>115 requests/second</a:t>
            </a:r>
            <a:r>
              <a:rPr/>
              <a:t> throughput</a:t>
            </a:r>
          </a:p>
          <a:p>
            <a:pPr lvl="0" indent="0" marL="0">
              <a:buNone/>
            </a:pPr>
            <a:r>
              <a:rPr b="1"/>
              <a:t>User Validation</a:t>
            </a:r>
            <a:r>
              <a:rPr/>
              <a:t> - </a:t>
            </a:r>
            <a:r>
              <a:rPr b="1"/>
              <a:t>4.1/5</a:t>
            </a:r>
            <a:r>
              <a:rPr/>
              <a:t> overall satisfaction (SM/OM participants) - </a:t>
            </a:r>
            <a:r>
              <a:rPr i="1"/>
              <a:t>“More reliable than manual for compliance”</a:t>
            </a:r>
            <a:r>
              <a:rPr/>
              <a:t> - Service Manager</a:t>
            </a:r>
          </a:p>
          <a:p>
            <a:pPr lvl="0" indent="0" marL="0">
              <a:buNone/>
            </a:pPr>
            <a:r>
              <a:rPr b="1"/>
              <a:t>Visual Elements:</a:t>
            </a:r>
            <a:r>
              <a:rPr/>
              <a:t> - Dashboard screenshot with metrics highlighted - Bar chart comparing manual (7 hrs) vs automated (0.8 sec) - User testimonial quote box - Green checkmarks for each metric</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5: FINANCIAL IMPACT</a:t>
            </a:r>
          </a:p>
          <a:p>
            <a:pPr lvl="0" indent="0" marL="0">
              <a:buNone/>
            </a:pPr>
            <a:r>
              <a:rPr b="1"/>
              <a:t>Title:</a:t>
            </a:r>
            <a:r>
              <a:rPr/>
              <a:t> £538,941 Annual Savings - 534% ROI Year 1</a:t>
            </a:r>
          </a:p>
          <a:p>
            <a:pPr lvl="0" indent="0" marL="0">
              <a:buNone/>
            </a:pPr>
            <a:r>
              <a:rPr b="1"/>
              <a:t>Content:</a:t>
            </a:r>
          </a:p>
          <a:p>
            <a:pPr lvl="0" indent="0" marL="0">
              <a:buNone/>
            </a:pPr>
            <a:r>
              <a:rPr b="1"/>
              <a:t>Savings Breakdown (5 Homes)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Category</a:t>
                      </a:r>
                    </a:p>
                  </a:txBody>
                  <a:tcPr/>
                </a:tc>
                <a:tc>
                  <a:txBody>
                    <a:bodyPr/>
                    <a:lstStyle/>
                    <a:p>
                      <a:pPr lvl="0" indent="0" marL="0">
                        <a:buNone/>
                      </a:pPr>
                      <a:r>
                        <a:rPr/>
                        <a:t>Annual Savings</a:t>
                      </a:r>
                    </a:p>
                  </a:txBody>
                  <a:tcPr/>
                </a:tc>
                <a:tc>
                  <a:txBody>
                    <a:bodyPr/>
                    <a:lstStyle/>
                    <a:p>
                      <a:pPr lvl="0" indent="0" marL="0">
                        <a:buNone/>
                      </a:pPr>
                      <a:r>
                        <a:rPr/>
                        <a:t>Mechanism</a:t>
                      </a:r>
                    </a:p>
                  </a:txBody>
                  <a:tcPr/>
                </a:tc>
              </a:tr>
              <a:tr h="0">
                <a:tc>
                  <a:txBody>
                    <a:bodyPr/>
                    <a:lstStyle/>
                    <a:p>
                      <a:pPr lvl="0" indent="0" marL="0">
                        <a:buNone/>
                      </a:pPr>
                      <a:r>
                        <a:rPr/>
                        <a:t>Labour Savings</a:t>
                      </a:r>
                    </a:p>
                  </a:txBody>
                </a:tc>
                <a:tc>
                  <a:txBody>
                    <a:bodyPr/>
                    <a:lstStyle/>
                    <a:p>
                      <a:pPr lvl="0" indent="0" marL="0">
                        <a:buNone/>
                      </a:pPr>
                      <a:r>
                        <a:rPr/>
                        <a:t>£81,000</a:t>
                      </a:r>
                    </a:p>
                  </a:txBody>
                </a:tc>
                <a:tc>
                  <a:txBody>
                    <a:bodyPr/>
                    <a:lstStyle/>
                    <a:p>
                      <a:pPr lvl="0" indent="0" marL="0">
                        <a:buNone/>
                      </a:pPr>
                      <a:r>
                        <a:rPr/>
                        <a:t>3,264 manager hours redeployed</a:t>
                      </a:r>
                    </a:p>
                  </a:txBody>
                </a:tc>
              </a:tr>
              <a:tr h="0">
                <a:tc>
                  <a:txBody>
                    <a:bodyPr/>
                    <a:lstStyle/>
                    <a:p>
                      <a:pPr lvl="0" indent="0" marL="0">
                        <a:buNone/>
                      </a:pPr>
                      <a:r>
                        <a:rPr/>
                        <a:t>Optimized Scheduling</a:t>
                      </a:r>
                    </a:p>
                  </a:txBody>
                </a:tc>
                <a:tc>
                  <a:txBody>
                    <a:bodyPr/>
                    <a:lstStyle/>
                    <a:p>
                      <a:pPr lvl="0" indent="0" marL="0">
                        <a:buNone/>
                      </a:pPr>
                      <a:r>
                        <a:rPr/>
                        <a:t>£346,500</a:t>
                      </a:r>
                    </a:p>
                  </a:txBody>
                </a:tc>
                <a:tc>
                  <a:txBody>
                    <a:bodyPr/>
                    <a:lstStyle/>
                    <a:p>
                      <a:pPr lvl="0" indent="0" marL="0">
                        <a:buNone/>
                      </a:pPr>
                      <a:r>
                        <a:rPr/>
                        <a:t>12.6% cost reduction (LP optimizer)</a:t>
                      </a:r>
                    </a:p>
                  </a:txBody>
                </a:tc>
              </a:tr>
              <a:tr h="0">
                <a:tc>
                  <a:txBody>
                    <a:bodyPr/>
                    <a:lstStyle/>
                    <a:p>
                      <a:pPr lvl="0" indent="0" marL="0">
                        <a:buNone/>
                      </a:pPr>
                      <a:r>
                        <a:rPr/>
                        <a:t>Reduced Agency Usage</a:t>
                      </a:r>
                    </a:p>
                  </a:txBody>
                </a:tc>
                <a:tc>
                  <a:txBody>
                    <a:bodyPr/>
                    <a:lstStyle/>
                    <a:p>
                      <a:pPr lvl="0" indent="0" marL="0">
                        <a:buNone/>
                      </a:pPr>
                      <a:r>
                        <a:rPr/>
                        <a:t>£111,441</a:t>
                      </a:r>
                    </a:p>
                  </a:txBody>
                </a:tc>
                <a:tc>
                  <a:txBody>
                    <a:bodyPr/>
                    <a:lstStyle/>
                    <a:p>
                      <a:pPr lvl="0" indent="0" marL="0">
                        <a:buNone/>
                      </a:pPr>
                      <a:r>
                        <a:rPr/>
                        <a:t>30-day forecasting enables planning</a:t>
                      </a:r>
                    </a:p>
                  </a:txBody>
                </a:tc>
              </a:tr>
              <a:tr h="0">
                <a:tc>
                  <a:txBody>
                    <a:bodyPr/>
                    <a:lstStyle/>
                    <a:p>
                      <a:pPr lvl="0" indent="0" marL="0">
                        <a:buNone/>
                      </a:pPr>
                      <a:r>
                        <a:rPr b="1"/>
                        <a:t>TOTAL</a:t>
                      </a:r>
                    </a:p>
                  </a:txBody>
                </a:tc>
                <a:tc>
                  <a:txBody>
                    <a:bodyPr/>
                    <a:lstStyle/>
                    <a:p>
                      <a:pPr lvl="0" indent="0" marL="0">
                        <a:buNone/>
                      </a:pPr>
                      <a:r>
                        <a:rPr b="1"/>
                        <a:t>£538,941</a:t>
                      </a:r>
                    </a:p>
                  </a:txBody>
                </a:tc>
                <a:tc>
                  <a:txBody>
                    <a:bodyPr/>
                    <a:lstStyle/>
                    <a:p>
                      <a:endParaRP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Return on Investment</a:t>
            </a:r>
          </a:p>
          <a:p>
            <a:pPr lvl="0" indent="0" marL="0">
              <a:buNone/>
            </a:pPr>
            <a:r>
              <a:rPr b="1"/>
              <a:t>Year 1:</a:t>
            </a:r>
            <a:br/>
            <a:r>
              <a:rPr/>
              <a:t>Investment: £85,000 | Savings: £538,941 | </a:t>
            </a:r>
            <a:r>
              <a:rPr b="1"/>
              <a:t>Net: £453,941</a:t>
            </a:r>
            <a:r>
              <a:rPr/>
              <a:t> | </a:t>
            </a:r>
            <a:r>
              <a:rPr b="1"/>
              <a:t>ROI: 534%</a:t>
            </a:r>
          </a:p>
          <a:p>
            <a:pPr lvl="0" indent="0" marL="0">
              <a:buNone/>
            </a:pPr>
            <a:r>
              <a:rPr b="1"/>
              <a:t>Year 2+:</a:t>
            </a:r>
            <a:br/>
            <a:r>
              <a:rPr/>
              <a:t>Investment: £15,000/year | Savings: £538,941 | </a:t>
            </a:r>
            <a:r>
              <a:rPr b="1"/>
              <a:t>Net: £523,941</a:t>
            </a:r>
            <a:r>
              <a:rPr/>
              <a:t> | </a:t>
            </a:r>
            <a:r>
              <a:rPr b="1"/>
              <a:t>ROI: 3,493%</a:t>
            </a:r>
          </a:p>
          <a:p>
            <a:pPr lvl="0" indent="0" marL="0">
              <a:buNone/>
            </a:pPr>
            <a:r>
              <a:rPr b="1"/>
              <a:t>Payback Period:</a:t>
            </a:r>
            <a:r>
              <a:rPr/>
              <a:t> </a:t>
            </a:r>
            <a:r>
              <a:rPr b="1"/>
              <a:t>3 months</a:t>
            </a:r>
          </a:p>
          <a:p>
            <a:pPr lvl="0" indent="0" marL="0">
              <a:buNone/>
            </a:pPr>
            <a:r>
              <a:rPr b="1"/>
              <a:t>Visual Elements:</a:t>
            </a:r>
            <a:r>
              <a:rPr/>
              <a:t> - Stacked bar chart showing savings categories - ROI badge: “534% Year 1” - Timeline showing payback at month 3 - Green highlighting on net benefit numbers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6: MACHINE LEARNING INNOVATION</a:t>
            </a:r>
          </a:p>
          <a:p>
            <a:pPr lvl="0" indent="0" marL="0">
              <a:buNone/>
            </a:pPr>
            <a:r>
              <a:rPr b="1"/>
              <a:t>Title:</a:t>
            </a:r>
            <a:r>
              <a:rPr/>
              <a:t> Prophet Forecasting + Cost Prediction Models</a:t>
            </a:r>
          </a:p>
          <a:p>
            <a:pPr lvl="0" indent="0" marL="0">
              <a:buNone/>
            </a:pPr>
            <a:r>
              <a:rPr b="1"/>
              <a:t>Content:</a:t>
            </a:r>
          </a:p>
          <a:p>
            <a:pPr lvl="0" indent="0" marL="0">
              <a:buNone/>
            </a:pPr>
            <a:r>
              <a:rPr b="1"/>
              <a:t>Prophet Forecasting (39 Models)</a:t>
            </a:r>
            <a:r>
              <a:rPr/>
              <a:t> - 30-day staffing demand predictions - 80% confidence intervals - 25.1% MAPE accuracy (industry standard)</a:t>
            </a:r>
          </a:p>
          <a:p>
            <a:pPr lvl="0" indent="0" marL="0">
              <a:buNone/>
            </a:pPr>
            <a:r>
              <a:rPr b="1"/>
              <a:t>[CHART: Prophet Forecast Example]</a:t>
            </a:r>
            <a:r>
              <a:rPr/>
              <a:t> - Blue line: Predicted demand - Gray band: Uncertainty range (80% CI) - Orange dots: Actual outcomes - Week 3 spike highlighted: “Early warning enables proactive recruiting”</a:t>
            </a:r>
          </a:p>
          <a:p>
            <a:pPr lvl="0" indent="0" marL="0">
              <a:buNone/>
            </a:pPr>
            <a:r>
              <a:rPr b="1"/>
              <a:t>New: Cost Prediction Models (Dec 2025)</a:t>
            </a:r>
            <a:r>
              <a:rPr/>
              <a:t> - ✅ Leave Predictor: 66.5% accuracy - ✅ Overtime Forecaster: </a:t>
            </a:r>
            <a:r>
              <a:rPr b="1"/>
              <a:t>95% accuracy</a:t>
            </a:r>
            <a:r>
              <a:rPr/>
              <a:t> 🏆 - ✅ High-Cost Classifier: 87.5% accuracy - ✅ Anomaly Detector: Identified £11.8M cost drivers</a:t>
            </a:r>
          </a:p>
          <a:p>
            <a:pPr lvl="0" indent="0" marL="0">
              <a:buNone/>
            </a:pPr>
            <a:r>
              <a:rPr b="1"/>
              <a:t>Visual Elements:</a:t>
            </a:r>
            <a:r>
              <a:rPr/>
              <a:t> - Live Prophet forecast chart - Mini charts for each cost prediction model - Icon: Brain with circuits (ML visualization)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7: SECURITY &amp; COMPLIANCE</a:t>
            </a:r>
          </a:p>
          <a:p>
            <a:pPr lvl="0" indent="0" marL="0">
              <a:buNone/>
            </a:pPr>
            <a:r>
              <a:rPr b="1"/>
              <a:t>Title:</a:t>
            </a:r>
            <a:r>
              <a:rPr/>
              <a:t> Healthcare-Grade Security by Design</a:t>
            </a:r>
          </a:p>
          <a:p>
            <a:pPr lvl="0" indent="0" marL="0">
              <a:buNone/>
            </a:pPr>
            <a:r>
              <a:rPr b="1"/>
              <a:t>Content:</a:t>
            </a:r>
          </a:p>
          <a:p>
            <a:pPr lvl="0" indent="0" marL="0">
              <a:buNone/>
            </a:pPr>
            <a:r>
              <a:rPr b="1"/>
              <a:t>GDPR Compliance</a:t>
            </a:r>
            <a:r>
              <a:rPr/>
              <a:t> ✅ - ✅ Data Protection Impact Assessment (DPIA) complete - ✅ ICO registration documented - ✅ Right to erasure implemented - ✅ Data portability (CSV export)</a:t>
            </a:r>
          </a:p>
          <a:p>
            <a:pPr lvl="0" indent="0" marL="0">
              <a:buNone/>
            </a:pPr>
            <a:r>
              <a:rPr b="1"/>
              <a:t>Authentication &amp; Authorization</a:t>
            </a:r>
            <a:r>
              <a:rPr/>
              <a:t> - 10-character passwords, complexity enforced - Account lockout: 5 failures = 1 hour - Role-based access: 7 roles (SM, OM, HOS, etc.) - 1-hour session timeout</a:t>
            </a:r>
          </a:p>
          <a:p>
            <a:pPr lvl="0" indent="0" marL="0">
              <a:buNone/>
            </a:pPr>
            <a:r>
              <a:rPr b="1"/>
              <a:t>Audit &amp; Encryption</a:t>
            </a:r>
            <a:r>
              <a:rPr/>
              <a:t> - django-auditlog: Every change tracked - Field-level encryption (SAP numbers, DOB) - CVE-2025-66418 &amp; CVE-2025-66471 remediated</a:t>
            </a:r>
          </a:p>
          <a:p>
            <a:pPr lvl="0" indent="0" marL="0">
              <a:buNone/>
            </a:pPr>
            <a:r>
              <a:rPr b="1"/>
              <a:t>Pending:</a:t>
            </a:r>
            <a:r>
              <a:rPr/>
              <a:t> External penetration test (CGI-led during technical review)</a:t>
            </a:r>
          </a:p>
          <a:p>
            <a:pPr lvl="0" indent="0" marL="0">
              <a:buNone/>
            </a:pPr>
            <a:r>
              <a:rPr b="1"/>
              <a:t>Visual Elements:</a:t>
            </a:r>
            <a:r>
              <a:rPr/>
              <a:t> - Security shield icon with checkmarks - Lock icon for encryption - Green “GDPR Compliant” badge - Timeline showing CVE remediation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8: TESTING &amp; QUALITY ASSURANCE</a:t>
            </a:r>
          </a:p>
          <a:p>
            <a:pPr lvl="0" indent="0" marL="0">
              <a:buNone/>
            </a:pPr>
            <a:r>
              <a:rPr b="1"/>
              <a:t>Title:</a:t>
            </a:r>
            <a:r>
              <a:rPr/>
              <a:t> Comprehensive Testing - 88/100 Score</a:t>
            </a:r>
          </a:p>
          <a:p>
            <a:pPr lvl="0" indent="0" marL="0">
              <a:buNone/>
            </a:pPr>
            <a:r>
              <a:rPr b="1"/>
              <a:t>Content:</a:t>
            </a:r>
          </a:p>
          <a:p>
            <a:pPr lvl="0" indent="0" marL="0">
              <a:buNone/>
            </a:pPr>
            <a:r>
              <a:rPr b="1"/>
              <a:t>Test Coverage</a:t>
            </a:r>
          </a:p>
          <a:p>
            <a:pPr lvl="0" indent="0" marL="0">
              <a:buNone/>
            </a:pPr>
            <a:r>
              <a:rPr b="1"/>
              <a:t>Unit Tests (15 files, 45+ cases)</a:t>
            </a:r>
            <a:r>
              <a:rPr/>
              <a:t> - Password validation (4 tests) - Audit logging (5 tests) - ML forecasting (6 tests) - Shift optimization (8 tests) - Staffing safeguards (12 tests)</a:t>
            </a:r>
          </a:p>
          <a:p>
            <a:pPr lvl="0" indent="0" marL="0">
              <a:buNone/>
            </a:pPr>
            <a:r>
              <a:rPr b="1"/>
              <a:t>Performance Tests</a:t>
            </a:r>
            <a:r>
              <a:rPr/>
              <a:t> - 300 concurrent users ✅ - Dashboard: 180ms (target: 500ms) ✅ - Optimization: 0.8s (target: 5s) ✅</a:t>
            </a:r>
          </a:p>
          <a:p>
            <a:pPr lvl="0" indent="0" marL="0">
              <a:buNone/>
            </a:pPr>
            <a:r>
              <a:rPr b="1"/>
              <a:t>Security Tests</a:t>
            </a:r>
            <a:r>
              <a:rPr/>
              <a:t> - 222-line security suite - Account lockout, CSRF, session timeout validated</a:t>
            </a:r>
          </a:p>
          <a:p>
            <a:pPr lvl="0" indent="0" marL="0">
              <a:buNone/>
            </a:pPr>
            <a:r>
              <a:rPr b="1"/>
              <a:t>User Acceptance</a:t>
            </a:r>
            <a:r>
              <a:rPr/>
              <a:t> - 3 managers (SM/OM roles) - 4.1/5 satisfaction - Real workflows tested</a:t>
            </a:r>
          </a:p>
          <a:p>
            <a:pPr lvl="0" indent="0" marL="0">
              <a:buNone/>
            </a:pPr>
            <a:r>
              <a:rPr b="1"/>
              <a:t>In Progress:</a:t>
            </a:r>
            <a:r>
              <a:rPr/>
              <a:t> 8 integration tests, external pentest, disaster recovery drill</a:t>
            </a:r>
          </a:p>
          <a:p>
            <a:pPr lvl="0" indent="0" marL="0">
              <a:buNone/>
            </a:pPr>
            <a:r>
              <a:rPr b="1"/>
              <a:t>Visual Elements:</a:t>
            </a:r>
            <a:r>
              <a:rPr/>
              <a:t> - Test pyramid diagram (unit → integration → UAT) - Progress bar: 88/100 filled green - Checkmarks for completed tests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9: DEPLOYMENT PLAN</a:t>
            </a:r>
          </a:p>
          <a:p>
            <a:pPr lvl="0" indent="0" marL="0">
              <a:buNone/>
            </a:pPr>
            <a:r>
              <a:rPr b="1"/>
              <a:t>Title:</a:t>
            </a:r>
            <a:r>
              <a:rPr/>
              <a:t> Low-Risk Phased Rollout - 6 Months to Full Operations</a:t>
            </a:r>
          </a:p>
          <a:p>
            <a:pPr lvl="0" indent="0" marL="0">
              <a:buNone/>
            </a:pPr>
            <a:r>
              <a:rPr b="1"/>
              <a:t>Content:</a:t>
            </a:r>
          </a:p>
          <a:p>
            <a:pPr lvl="0" indent="0" marL="0">
              <a:buNone/>
            </a:pPr>
            <a:r>
              <a:rPr b="1"/>
              <a:t>Phase 1: Pilot (Months 1-3)</a:t>
            </a:r>
            <a:r>
              <a:rPr/>
              <a:t> - </a:t>
            </a:r>
            <a:r>
              <a:rPr b="1"/>
              <a:t>Homes:</a:t>
            </a:r>
            <a:r>
              <a:rPr/>
              <a:t> Orchard Grove + Hawthorn House - </a:t>
            </a:r>
            <a:r>
              <a:rPr b="1"/>
              <a:t>Scope:</a:t>
            </a:r>
            <a:r>
              <a:rPr/>
              <a:t> 17 units, ~340 staff - </a:t>
            </a:r>
            <a:r>
              <a:rPr b="1"/>
              <a:t>Training:</a:t>
            </a:r>
            <a:r>
              <a:rPr/>
              <a:t> 4 OMs, 1 SM - </a:t>
            </a:r>
            <a:r>
              <a:rPr b="1"/>
              <a:t>Success:</a:t>
            </a:r>
            <a:r>
              <a:rPr/>
              <a:t> 7 hrs → &lt;1 hr weekly, zero WTD violations, 10% agency reduction</a:t>
            </a:r>
          </a:p>
          <a:p>
            <a:pPr lvl="0" indent="0" marL="0">
              <a:buNone/>
            </a:pPr>
            <a:r>
              <a:rPr b="1"/>
              <a:t>Phase 2: Expansion (Months 4-6)</a:t>
            </a:r>
            <a:r>
              <a:rPr/>
              <a:t> - </a:t>
            </a:r>
            <a:r>
              <a:rPr b="1"/>
              <a:t>Homes:</a:t>
            </a:r>
            <a:r>
              <a:rPr/>
              <a:t> Meadowburn, Riverside, Victoria Gardens - </a:t>
            </a:r>
            <a:r>
              <a:rPr b="1"/>
              <a:t>Scope:</a:t>
            </a:r>
            <a:r>
              <a:rPr/>
              <a:t> 25 units, ~481 staff - </a:t>
            </a:r>
            <a:r>
              <a:rPr b="1"/>
              <a:t>Milestone:</a:t>
            </a:r>
            <a:r>
              <a:rPr/>
              <a:t> Full coverage (all 5 HSCP older people’s homes)</a:t>
            </a:r>
          </a:p>
          <a:p>
            <a:pPr lvl="0" indent="0" marL="0">
              <a:buNone/>
            </a:pPr>
            <a:r>
              <a:rPr b="1"/>
              <a:t>Phase 3: Optimization (Months 7-12)</a:t>
            </a:r>
            <a:r>
              <a:rPr/>
              <a:t> - SWISS API integration (payroll sync) - Cross-home reallocation (staff sharing) - Advanced analytics (monthly cost reports)</a:t>
            </a:r>
          </a:p>
          <a:p>
            <a:pPr lvl="0" indent="0" marL="0">
              <a:buNone/>
            </a:pPr>
            <a:r>
              <a:rPr b="1"/>
              <a:t>Go-Live Targets:</a:t>
            </a:r>
            <a:r>
              <a:rPr/>
              <a:t> - </a:t>
            </a:r>
            <a:r>
              <a:rPr b="1"/>
              <a:t>Feb 2026:</a:t>
            </a:r>
            <a:r>
              <a:rPr/>
              <a:t> Pilot launch - </a:t>
            </a:r>
            <a:r>
              <a:rPr b="1"/>
              <a:t>May 2026:</a:t>
            </a:r>
            <a:r>
              <a:rPr/>
              <a:t> Full deployment</a:t>
            </a:r>
          </a:p>
          <a:p>
            <a:pPr lvl="0" indent="0" marL="0">
              <a:buNone/>
            </a:pPr>
            <a:r>
              <a:rPr b="1"/>
              <a:t>Visual Elements:</a:t>
            </a:r>
            <a:r>
              <a:rPr/>
              <a:t> - Gantt chart with 3 phases color-coded - Home icons showing progressive rollout - Timeline arrows - Green checkmarks for milestones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10: CGI INTEGRATION</a:t>
            </a:r>
          </a:p>
          <a:p>
            <a:pPr lvl="0" indent="0" marL="0">
              <a:buNone/>
            </a:pPr>
            <a:r>
              <a:rPr b="1"/>
              <a:t>Title:</a:t>
            </a:r>
            <a:r>
              <a:rPr/>
              <a:t> Open Standards - Easy Integration</a:t>
            </a:r>
          </a:p>
          <a:p>
            <a:pPr lvl="0" indent="0" marL="0">
              <a:buNone/>
            </a:pPr>
            <a:r>
              <a:rPr b="1"/>
              <a:t>Content:</a:t>
            </a:r>
          </a:p>
          <a:p>
            <a:pPr lvl="0" indent="0" marL="0">
              <a:buNone/>
            </a:pPr>
            <a:r>
              <a:rPr b="1"/>
              <a:t>Technology Compatibility</a:t>
            </a:r>
            <a:r>
              <a:rPr/>
              <a:t> - </a:t>
            </a:r>
            <a:r>
              <a:rPr b="1"/>
              <a:t>Django 4.2 LTS</a:t>
            </a:r>
            <a:r>
              <a:rPr/>
              <a:t> + </a:t>
            </a:r>
            <a:r>
              <a:rPr b="1"/>
              <a:t>PostgreSQL 15</a:t>
            </a:r>
            <a:r>
              <a:rPr/>
              <a:t> - CGI-familiar tech stack - No cloud-only dependencies - Standard HTTP/JSON protocols</a:t>
            </a:r>
          </a:p>
          <a:p>
            <a:pPr lvl="0" indent="0" marL="0">
              <a:buNone/>
            </a:pPr>
            <a:r>
              <a:rPr b="1"/>
              <a:t>API Integration Points</a:t>
            </a:r>
            <a:r>
              <a:rPr/>
              <a:t> - SWISS HR system (staff master data) - eESS leave system (leave balance sync) - Payroll exports (shift hours) - Existing HSCP infrastructure</a:t>
            </a:r>
          </a:p>
          <a:p>
            <a:pPr lvl="0" indent="0" marL="0">
              <a:buNone/>
            </a:pPr>
            <a:r>
              <a:rPr b="1"/>
              <a:t>No Vendor Lock-In</a:t>
            </a:r>
            <a:r>
              <a:rPr/>
              <a:t> - Open-source Django framework - Full source code transferred to HSCP - CGI can maintain with standard Django developers - Data exportable: CSV, JSON, SQL</a:t>
            </a:r>
          </a:p>
          <a:p>
            <a:pPr lvl="0" indent="0" marL="0">
              <a:buNone/>
            </a:pPr>
            <a:r>
              <a:rPr b="1"/>
              <a:t>CGI Technical Review (2 Weeks)</a:t>
            </a:r>
            <a:r>
              <a:rPr/>
              <a:t> 1. Architecture assessment 2. Security penetration test 3. Integration feasibility 4. Performance validation 5. Disaster recovery procedures</a:t>
            </a:r>
          </a:p>
          <a:p>
            <a:pPr lvl="0" indent="0" marL="0">
              <a:buNone/>
            </a:pPr>
            <a:r>
              <a:rPr b="1"/>
              <a:t>Visual Elements:</a:t>
            </a:r>
            <a:r>
              <a:rPr/>
              <a:t> - Integration diagram: Rota System ↔ SWISS ↔ Payroll - Django + PostgreSQL logos - “No Lock-In” badge with open padlock - Timeline: 2-week review → 2-week remediation → Go-live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11: RISK MITIGATION</a:t>
            </a:r>
          </a:p>
          <a:p>
            <a:pPr lvl="0" indent="0" marL="0">
              <a:buNone/>
            </a:pPr>
            <a:r>
              <a:rPr b="1"/>
              <a:t>Title:</a:t>
            </a:r>
            <a:r>
              <a:rPr/>
              <a:t> Risks Identified &amp; Mitigated</a:t>
            </a:r>
          </a:p>
          <a:p>
            <a:pPr lvl="0" indent="0" marL="0">
              <a:buNone/>
            </a:pPr>
            <a:r>
              <a:rPr b="1"/>
              <a:t>Content: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Risk</a:t>
                      </a:r>
                    </a:p>
                  </a:txBody>
                  <a:tcPr/>
                </a:tc>
                <a:tc>
                  <a:txBody>
                    <a:bodyPr/>
                    <a:lstStyle/>
                    <a:p>
                      <a:pPr lvl="0" indent="0" marL="0">
                        <a:buNone/>
                      </a:pPr>
                      <a:r>
                        <a:rPr/>
                        <a:t>Likelihood</a:t>
                      </a:r>
                    </a:p>
                  </a:txBody>
                  <a:tcPr/>
                </a:tc>
                <a:tc>
                  <a:txBody>
                    <a:bodyPr/>
                    <a:lstStyle/>
                    <a:p>
                      <a:pPr lvl="0" indent="0" marL="0">
                        <a:buNone/>
                      </a:pPr>
                      <a:r>
                        <a:rPr/>
                        <a:t>Impact</a:t>
                      </a:r>
                    </a:p>
                  </a:txBody>
                  <a:tcPr/>
                </a:tc>
                <a:tc>
                  <a:txBody>
                    <a:bodyPr/>
                    <a:lstStyle/>
                    <a:p>
                      <a:pPr lvl="0" indent="0" marL="0">
                        <a:buNone/>
                      </a:pPr>
                      <a:r>
                        <a:rPr/>
                        <a:t>Mitigation</a:t>
                      </a:r>
                    </a:p>
                  </a:txBody>
                  <a:tcPr/>
                </a:tc>
                <a:tc>
                  <a:txBody>
                    <a:bodyPr/>
                    <a:lstStyle/>
                    <a:p>
                      <a:pPr lvl="0" indent="0" marL="0">
                        <a:buNone/>
                      </a:pPr>
                      <a:r>
                        <a:rPr/>
                        <a:t>Residual Risk</a:t>
                      </a:r>
                    </a:p>
                  </a:txBody>
                  <a:tcPr/>
                </a:tc>
              </a:tr>
              <a:tr h="0">
                <a:tc>
                  <a:txBody>
                    <a:bodyPr/>
                    <a:lstStyle/>
                    <a:p>
                      <a:pPr lvl="0" indent="0" marL="0">
                        <a:buNone/>
                      </a:pPr>
                      <a:r>
                        <a:rPr b="1"/>
                        <a:t>Data migration errors</a:t>
                      </a:r>
                    </a:p>
                  </a:txBody>
                </a:tc>
                <a:tc>
                  <a:txBody>
                    <a:bodyPr/>
                    <a:lstStyle/>
                    <a:p>
                      <a:pPr lvl="0" indent="0" marL="0">
                        <a:buNone/>
                      </a:pPr>
                      <a:r>
                        <a:rPr/>
                        <a:t>MEDIUM</a:t>
                      </a:r>
                    </a:p>
                  </a:txBody>
                </a:tc>
                <a:tc>
                  <a:txBody>
                    <a:bodyPr/>
                    <a:lstStyle/>
                    <a:p>
                      <a:pPr lvl="0" indent="0" marL="0">
                        <a:buNone/>
                      </a:pPr>
                      <a:r>
                        <a:rPr/>
                        <a:t>HIGH</a:t>
                      </a:r>
                    </a:p>
                  </a:txBody>
                </a:tc>
                <a:tc>
                  <a:txBody>
                    <a:bodyPr/>
                    <a:lstStyle/>
                    <a:p>
                      <a:pPr lvl="0" indent="0" marL="0">
                        <a:buNone/>
                      </a:pPr>
                      <a:r>
                        <a:rPr/>
                        <a:t>Dry-run tested, rollback documented</a:t>
                      </a:r>
                    </a:p>
                  </a:txBody>
                </a:tc>
                <a:tc>
                  <a:txBody>
                    <a:bodyPr/>
                    <a:lstStyle/>
                    <a:p>
                      <a:pPr lvl="0" indent="0" marL="0">
                        <a:buNone/>
                      </a:pPr>
                      <a:r>
                        <a:rPr/>
                        <a:t>🟢 LOW</a:t>
                      </a:r>
                    </a:p>
                  </a:txBody>
                </a:tc>
              </a:tr>
              <a:tr h="0">
                <a:tc>
                  <a:txBody>
                    <a:bodyPr/>
                    <a:lstStyle/>
                    <a:p>
                      <a:pPr lvl="0" indent="0" marL="0">
                        <a:buNone/>
                      </a:pPr>
                      <a:r>
                        <a:rPr b="1"/>
                        <a:t>Staff resistance</a:t>
                      </a:r>
                    </a:p>
                  </a:txBody>
                </a:tc>
                <a:tc>
                  <a:txBody>
                    <a:bodyPr/>
                    <a:lstStyle/>
                    <a:p>
                      <a:pPr lvl="0" indent="0" marL="0">
                        <a:buNone/>
                      </a:pPr>
                      <a:r>
                        <a:rPr/>
                        <a:t>MEDIUM</a:t>
                      </a:r>
                    </a:p>
                  </a:txBody>
                </a:tc>
                <a:tc>
                  <a:txBody>
                    <a:bodyPr/>
                    <a:lstStyle/>
                    <a:p>
                      <a:pPr lvl="0" indent="0" marL="0">
                        <a:buNone/>
                      </a:pPr>
                      <a:r>
                        <a:rPr/>
                        <a:t>MEDIUM</a:t>
                      </a:r>
                    </a:p>
                  </a:txBody>
                </a:tc>
                <a:tc>
                  <a:txBody>
                    <a:bodyPr/>
                    <a:lstStyle/>
                    <a:p>
                      <a:pPr lvl="0" indent="0" marL="0">
                        <a:buNone/>
                      </a:pPr>
                      <a:r>
                        <a:rPr/>
                        <a:t>33KB training guide, OM champions</a:t>
                      </a:r>
                    </a:p>
                  </a:txBody>
                </a:tc>
                <a:tc>
                  <a:txBody>
                    <a:bodyPr/>
                    <a:lstStyle/>
                    <a:p>
                      <a:pPr lvl="0" indent="0" marL="0">
                        <a:buNone/>
                      </a:pPr>
                      <a:r>
                        <a:rPr/>
                        <a:t>🟢 LOW</a:t>
                      </a:r>
                    </a:p>
                  </a:txBody>
                </a:tc>
              </a:tr>
              <a:tr h="0">
                <a:tc>
                  <a:txBody>
                    <a:bodyPr/>
                    <a:lstStyle/>
                    <a:p>
                      <a:pPr lvl="0" indent="0" marL="0">
                        <a:buNone/>
                      </a:pPr>
                      <a:r>
                        <a:rPr b="1"/>
                        <a:t>CGI integration delays</a:t>
                      </a:r>
                    </a:p>
                  </a:txBody>
                </a:tc>
                <a:tc>
                  <a:txBody>
                    <a:bodyPr/>
                    <a:lstStyle/>
                    <a:p>
                      <a:pPr lvl="0" indent="0" marL="0">
                        <a:buNone/>
                      </a:pPr>
                      <a:r>
                        <a:rPr/>
                        <a:t>MEDIUM</a:t>
                      </a:r>
                    </a:p>
                  </a:txBody>
                </a:tc>
                <a:tc>
                  <a:txBody>
                    <a:bodyPr/>
                    <a:lstStyle/>
                    <a:p>
                      <a:pPr lvl="0" indent="0" marL="0">
                        <a:buNone/>
                      </a:pPr>
                      <a:r>
                        <a:rPr/>
                        <a:t>MEDIUM</a:t>
                      </a:r>
                    </a:p>
                  </a:txBody>
                </a:tc>
                <a:tc>
                  <a:txBody>
                    <a:bodyPr/>
                    <a:lstStyle/>
                    <a:p>
                      <a:pPr lvl="0" indent="0" marL="0">
                        <a:buNone/>
                      </a:pPr>
                      <a:r>
                        <a:rPr/>
                        <a:t>REST API ready, CSV fallback</a:t>
                      </a:r>
                    </a:p>
                  </a:txBody>
                </a:tc>
                <a:tc>
                  <a:txBody>
                    <a:bodyPr/>
                    <a:lstStyle/>
                    <a:p>
                      <a:pPr lvl="0" indent="0" marL="0">
                        <a:buNone/>
                      </a:pPr>
                      <a:r>
                        <a:rPr/>
                        <a:t>🟢 LOW</a:t>
                      </a:r>
                    </a:p>
                  </a:txBody>
                </a:tc>
              </a:tr>
              <a:tr h="0">
                <a:tc>
                  <a:txBody>
                    <a:bodyPr/>
                    <a:lstStyle/>
                    <a:p>
                      <a:pPr lvl="0" indent="0" marL="0">
                        <a:buNone/>
                      </a:pPr>
                      <a:r>
                        <a:rPr b="1"/>
                        <a:t>Performance at scale</a:t>
                      </a:r>
                    </a:p>
                  </a:txBody>
                </a:tc>
                <a:tc>
                  <a:txBody>
                    <a:bodyPr/>
                    <a:lstStyle/>
                    <a:p>
                      <a:pPr lvl="0" indent="0" marL="0">
                        <a:buNone/>
                      </a:pPr>
                      <a:r>
                        <a:rPr/>
                        <a:t>LOW</a:t>
                      </a:r>
                    </a:p>
                  </a:txBody>
                </a:tc>
                <a:tc>
                  <a:txBody>
                    <a:bodyPr/>
                    <a:lstStyle/>
                    <a:p>
                      <a:pPr lvl="0" indent="0" marL="0">
                        <a:buNone/>
                      </a:pPr>
                      <a:r>
                        <a:rPr/>
                        <a:t>HIGH</a:t>
                      </a:r>
                    </a:p>
                  </a:txBody>
                </a:tc>
                <a:tc>
                  <a:txBody>
                    <a:bodyPr/>
                    <a:lstStyle/>
                    <a:p>
                      <a:pPr lvl="0" indent="0" marL="0">
                        <a:buNone/>
                      </a:pPr>
                      <a:r>
                        <a:rPr/>
                        <a:t>300 users validated, Redis caching</a:t>
                      </a:r>
                    </a:p>
                  </a:txBody>
                </a:tc>
                <a:tc>
                  <a:txBody>
                    <a:bodyPr/>
                    <a:lstStyle/>
                    <a:p>
                      <a:pPr lvl="0" indent="0" marL="0">
                        <a:buNone/>
                      </a:pPr>
                      <a:r>
                        <a:rPr/>
                        <a:t>🟢 LOW</a:t>
                      </a:r>
                    </a:p>
                  </a:txBody>
                </a:tc>
              </a:tr>
              <a:tr h="0">
                <a:tc>
                  <a:txBody>
                    <a:bodyPr/>
                    <a:lstStyle/>
                    <a:p>
                      <a:pPr lvl="0" indent="0" marL="0">
                        <a:buNone/>
                      </a:pPr>
                      <a:r>
                        <a:rPr b="1"/>
                        <a:t>Security vulnerabilities</a:t>
                      </a:r>
                    </a:p>
                  </a:txBody>
                </a:tc>
                <a:tc>
                  <a:txBody>
                    <a:bodyPr/>
                    <a:lstStyle/>
                    <a:p>
                      <a:pPr lvl="0" indent="0" marL="0">
                        <a:buNone/>
                      </a:pPr>
                      <a:r>
                        <a:rPr/>
                        <a:t>LOW</a:t>
                      </a:r>
                    </a:p>
                  </a:txBody>
                </a:tc>
                <a:tc>
                  <a:txBody>
                    <a:bodyPr/>
                    <a:lstStyle/>
                    <a:p>
                      <a:pPr lvl="0" indent="0" marL="0">
                        <a:buNone/>
                      </a:pPr>
                      <a:r>
                        <a:rPr/>
                        <a:t>HIGH</a:t>
                      </a:r>
                    </a:p>
                  </a:txBody>
                </a:tc>
                <a:tc>
                  <a:txBody>
                    <a:bodyPr/>
                    <a:lstStyle/>
                    <a:p>
                      <a:pPr lvl="0" indent="0" marL="0">
                        <a:buNone/>
                      </a:pPr>
                      <a:r>
                        <a:rPr/>
                        <a:t>Pentest scheduled, CVE monitoring</a:t>
                      </a:r>
                    </a:p>
                  </a:txBody>
                </a:tc>
                <a:tc>
                  <a:txBody>
                    <a:bodyPr/>
                    <a:lstStyle/>
                    <a:p>
                      <a:pPr lvl="0" indent="0" marL="0">
                        <a:buNone/>
                      </a:pPr>
                      <a:r>
                        <a:rPr/>
                        <a:t>🟢 LOW</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Fallback Procedures</a:t>
            </a:r>
            <a:r>
              <a:rPr/>
              <a:t> - ✅ Rollback to manual processes (documented) - ✅ CSV import/export (maintains operations during API delays) - ✅ Disaster recovery: 25-minute full restore</a:t>
            </a:r>
          </a:p>
          <a:p>
            <a:pPr lvl="0" indent="0" marL="0">
              <a:buNone/>
            </a:pPr>
            <a:r>
              <a:rPr b="1"/>
              <a:t>Visual Elements:</a:t>
            </a:r>
            <a:r>
              <a:rPr/>
              <a:t> - Risk matrix (2x2 grid: likelihood vs impact) - Green “LOW” badges in residual risk column - Shield icon with checkmarks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12: DECISION &amp; NEXT STEPS</a:t>
            </a:r>
          </a:p>
          <a:p>
            <a:pPr lvl="0" indent="0" marL="0">
              <a:buNone/>
            </a:pPr>
            <a:r>
              <a:rPr b="1"/>
              <a:t>Title:</a:t>
            </a:r>
            <a:r>
              <a:rPr/>
              <a:t> Approval Required - Go-Live February 2026</a:t>
            </a:r>
          </a:p>
          <a:p>
            <a:pPr lvl="0" indent="0" marL="0">
              <a:buNone/>
            </a:pPr>
            <a:r>
              <a:rPr b="1"/>
              <a:t>Content:</a:t>
            </a:r>
          </a:p>
          <a:p>
            <a:pPr lvl="0" indent="0" marL="0">
              <a:buNone/>
            </a:pPr>
            <a:r>
              <a:rPr b="1"/>
              <a:t>Three Approvals Needed:</a:t>
            </a:r>
          </a:p>
          <a:p>
            <a:pPr lvl="0" indent="0" marL="0">
              <a:buNone/>
            </a:pPr>
            <a:r>
              <a:rPr b="1"/>
              <a:t>1. Executive Approval (Today)</a:t>
            </a:r>
            <a:r>
              <a:rPr/>
              <a:t> - ✅ Proceed with 3-month pilot (2 homes) - ✅ Budget: £28,333 (£85K ÷ 3 phases)</a:t>
            </a:r>
          </a:p>
          <a:p>
            <a:pPr lvl="0" indent="0" marL="0">
              <a:buNone/>
            </a:pPr>
            <a:r>
              <a:rPr b="1"/>
              <a:t>2. CGI Technical Review (2 Weeks)</a:t>
            </a:r>
            <a:r>
              <a:rPr/>
              <a:t> - Architecture, security, integration feasibility - Full documentation provided</a:t>
            </a:r>
          </a:p>
          <a:p>
            <a:pPr lvl="0" indent="0" marL="0">
              <a:buNone/>
            </a:pPr>
            <a:r>
              <a:rPr b="1"/>
              <a:t>3. HSCP IG Board (1 Week)</a:t>
            </a:r>
            <a:r>
              <a:rPr/>
              <a:t> - Final DPIA sign-off - Data processing lawful basis confirmed</a:t>
            </a:r>
          </a:p>
          <a:p>
            <a:pPr lvl="0" indent="0" marL="0">
              <a:buNone/>
            </a:pPr>
            <a:r>
              <a:rPr b="1"/>
              <a:t>Timeline:</a:t>
            </a:r>
            <a:r>
              <a:rPr/>
              <a:t> - </a:t>
            </a:r>
            <a:r>
              <a:rPr b="1"/>
              <a:t>Today:</a:t>
            </a:r>
            <a:r>
              <a:rPr/>
              <a:t> Decision to proceed - </a:t>
            </a:r>
            <a:r>
              <a:rPr b="1"/>
              <a:t>Weeks 1-2:</a:t>
            </a:r>
            <a:r>
              <a:rPr/>
              <a:t> CGI review - </a:t>
            </a:r>
            <a:r>
              <a:rPr b="1"/>
              <a:t>Week 3:</a:t>
            </a:r>
            <a:r>
              <a:rPr/>
              <a:t> IG Board approval - </a:t>
            </a:r>
            <a:r>
              <a:rPr b="1"/>
              <a:t>Week 4:</a:t>
            </a:r>
            <a:r>
              <a:rPr/>
              <a:t> Deployment planning - </a:t>
            </a:r>
            <a:r>
              <a:rPr b="1"/>
              <a:t>Feb 2026:</a:t>
            </a:r>
            <a:r>
              <a:rPr/>
              <a:t> Pilot go-live</a:t>
            </a:r>
          </a:p>
          <a:p>
            <a:pPr lvl="0" indent="0" marL="0">
              <a:buNone/>
            </a:pPr>
            <a:r>
              <a:rPr b="1"/>
              <a:t>Investment Decision:</a:t>
            </a:r>
            <a:r>
              <a:rPr/>
              <a:t> - </a:t>
            </a:r>
            <a:r>
              <a:rPr b="1"/>
              <a:t>Year 1:</a:t>
            </a:r>
            <a:r>
              <a:rPr/>
              <a:t> £85,000 investment → £453,941 net benefit → </a:t>
            </a:r>
            <a:r>
              <a:rPr b="1"/>
              <a:t>534% ROI</a:t>
            </a:r>
            <a:r>
              <a:rPr/>
              <a:t> - </a:t>
            </a:r>
            <a:r>
              <a:rPr b="1"/>
              <a:t>Year 2+:</a:t>
            </a:r>
            <a:r>
              <a:rPr/>
              <a:t> £15,000/year → £523,941 net benefit → </a:t>
            </a:r>
            <a:r>
              <a:rPr b="1"/>
              <a:t>3,493% ROI</a:t>
            </a:r>
            <a:r>
              <a:rPr/>
              <a:t> - </a:t>
            </a:r>
            <a:r>
              <a:rPr b="1"/>
              <a:t>Payback:</a:t>
            </a:r>
            <a:r>
              <a:rPr/>
              <a:t> 3 months</a:t>
            </a:r>
          </a:p>
          <a:p>
            <a:pPr lvl="0" indent="0" marL="0">
              <a:buNone/>
            </a:pPr>
            <a:r>
              <a:rPr b="1"/>
              <a:t>Visual Elements:</a:t>
            </a:r>
            <a:r>
              <a:rPr/>
              <a:t> - Timeline with decision points - ROI callout box (large, green) - “Approve Today” button graphic - Calendar showing Feb 2026 go-live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13: SUMMARY</a:t>
            </a:r>
          </a:p>
          <a:p>
            <a:pPr lvl="0" indent="0" marL="0">
              <a:buNone/>
            </a:pPr>
            <a:r>
              <a:rPr b="1"/>
              <a:t>Title:</a:t>
            </a:r>
            <a:r>
              <a:rPr/>
              <a:t> Ready for Production - Awaiting Approval</a:t>
            </a:r>
          </a:p>
          <a:p>
            <a:pPr lvl="0" indent="0" marL="0">
              <a:buNone/>
            </a:pPr>
            <a:r>
              <a:rPr b="1"/>
              <a:t>Content:</a:t>
            </a:r>
          </a:p>
          <a:p>
            <a:pPr lvl="0" indent="0" marL="0">
              <a:buNone/>
            </a:pPr>
            <a:r>
              <a:rPr b="1"/>
              <a:t>✅ Proven System</a:t>
            </a:r>
            <a:r>
              <a:rPr/>
              <a:t> - 103,074 shifts generated - 300 concurrent users validated - 4.1/5 user satisfaction</a:t>
            </a:r>
          </a:p>
          <a:p>
            <a:pPr lvl="0" indent="0" marL="0">
              <a:buNone/>
            </a:pPr>
            <a:r>
              <a:rPr b="1"/>
              <a:t>✅ Measurable ROI</a:t>
            </a:r>
            <a:r>
              <a:rPr/>
              <a:t> - £538,941 annual savings - 534% Year 1 ROI - 3-month payback</a:t>
            </a:r>
          </a:p>
          <a:p>
            <a:pPr lvl="0" indent="0" marL="0">
              <a:buNone/>
            </a:pPr>
            <a:r>
              <a:rPr b="1"/>
              <a:t>✅ Low Risk</a:t>
            </a:r>
            <a:r>
              <a:rPr/>
              <a:t> - Phased rollout - Fallback procedures - Tested workflows</a:t>
            </a:r>
          </a:p>
          <a:p>
            <a:pPr lvl="0" indent="0" marL="0">
              <a:buNone/>
            </a:pPr>
            <a:r>
              <a:rPr b="1"/>
              <a:t>✅ Healthcare-Grade</a:t>
            </a:r>
            <a:r>
              <a:rPr/>
              <a:t> - GDPR compliant - Audit trails - Secure architecture</a:t>
            </a:r>
          </a:p>
          <a:p>
            <a:pPr lvl="0" indent="0" marL="0">
              <a:buNone/>
            </a:pPr>
            <a:r>
              <a:rPr b="1"/>
              <a:t>✅ Open-Source</a:t>
            </a:r>
            <a:r>
              <a:rPr/>
              <a:t> - No vendor lock-in - CGI can maintain - Full code ownership</a:t>
            </a:r>
          </a:p>
          <a:p>
            <a:pPr lvl="0" indent="0" marL="0">
              <a:buNone/>
            </a:pPr>
            <a:r>
              <a:rPr b="1"/>
              <a:t>The Ask:</a:t>
            </a:r>
            <a:br/>
            <a:r>
              <a:rPr i="1"/>
              <a:t>Approve pilot deployment (£28,333) and authorize CGI technical review.</a:t>
            </a:r>
          </a:p>
          <a:p>
            <a:pPr lvl="0" indent="0" marL="0">
              <a:buNone/>
            </a:pPr>
            <a:r>
              <a:rPr b="1"/>
              <a:t>This isn’t just a scheduling system—it’s 3,264 hours of manager time returned to patient care annually.</a:t>
            </a:r>
          </a:p>
          <a:p>
            <a:pPr lvl="0" indent="0" marL="0">
              <a:buNone/>
            </a:pPr>
            <a:r>
              <a:rPr b="1"/>
              <a:t>Visual Elements:</a:t>
            </a:r>
            <a:r>
              <a:rPr/>
              <a:t> - 5 checkmark boxes with icons - Large ROI number: “534%” - Photo: Care home staff (stock image, professional) - Call-to-action button: “Questions?”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14: BACKUP SLIDE - TECHNICAL SPECIFICATIONS</a:t>
            </a:r>
          </a:p>
          <a:p>
            <a:pPr lvl="0" indent="0" marL="0">
              <a:buNone/>
            </a:pPr>
            <a:r>
              <a:rPr b="1"/>
              <a:t>Title:</a:t>
            </a:r>
            <a:r>
              <a:rPr/>
              <a:t> System Specifications (For Technical Questions)</a:t>
            </a:r>
          </a:p>
          <a:p>
            <a:pPr lvl="0" indent="0" marL="0">
              <a:buNone/>
            </a:pPr>
            <a:r>
              <a:rPr b="1"/>
              <a:t>Content:</a:t>
            </a:r>
          </a:p>
          <a:p>
            <a:pPr lvl="0" indent="0" marL="0">
              <a:buNone/>
            </a:pPr>
            <a:r>
              <a:rPr b="1"/>
              <a:t>Infrastructure Requirements</a:t>
            </a:r>
            <a:r>
              <a:rPr/>
              <a:t> - Python 3.11+ - Django 4.2.27 LTS - PostgreSQL 15+ - Redis 7+ (caching/Celery) - Gunicorn 21.2+ (WSGI) - Nginx 1.24+ (reverse proxy)</a:t>
            </a:r>
          </a:p>
          <a:p>
            <a:pPr lvl="0" indent="0" marL="0">
              <a:buNone/>
            </a:pPr>
            <a:r>
              <a:rPr b="1"/>
              <a:t>Scalability</a:t>
            </a:r>
            <a:r>
              <a:rPr/>
              <a:t> - Validated: 300 concurrent users - Throughput: 115 requests/second - Database: 103,074 shifts, &lt;100ms queries - Caching: Redis with 1-hour TTL</a:t>
            </a:r>
          </a:p>
          <a:p>
            <a:pPr lvl="0" indent="0" marL="0">
              <a:buNone/>
            </a:pPr>
            <a:r>
              <a:rPr b="1"/>
              <a:t>Security Features</a:t>
            </a:r>
            <a:r>
              <a:rPr/>
              <a:t> - django-axes (account lockout) - django-auditlog (change tracking) - django-encrypted-model-fields (field encryption) - django-csp (Content Security Policy)</a:t>
            </a:r>
          </a:p>
          <a:p>
            <a:pPr lvl="0" indent="0" marL="0">
              <a:buNone/>
            </a:pPr>
            <a:r>
              <a:rPr b="1"/>
              <a:t>ML Models</a:t>
            </a:r>
            <a:r>
              <a:rPr/>
              <a:t> - Prophet: 39 models (3.2s training time per model) - PuLP: LP optimizer (&lt;1s solve time) - scikit-learn: 4 cost prediction models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15: BACKUP SLIDE - DOCUMENTATION PROVIDED</a:t>
            </a:r>
          </a:p>
          <a:p>
            <a:pPr lvl="0" indent="0" marL="0">
              <a:buNone/>
            </a:pPr>
            <a:r>
              <a:rPr b="1"/>
              <a:t>Title:</a:t>
            </a:r>
            <a:r>
              <a:rPr/>
              <a:t> Comprehensive Documentation Package</a:t>
            </a:r>
          </a:p>
          <a:p>
            <a:pPr lvl="0" indent="0" marL="0">
              <a:buNone/>
            </a:pPr>
            <a:r>
              <a:rPr b="1"/>
              <a:t>Content:</a:t>
            </a:r>
          </a:p>
          <a:p>
            <a:pPr lvl="0" indent="0" marL="0">
              <a:buNone/>
            </a:pPr>
            <a:r>
              <a:rPr b="1"/>
              <a:t>Deployment Guides (3)</a:t>
            </a:r>
            <a:r>
              <a:rPr/>
              <a:t> - ML_DEPLOYMENT_GUIDE.md (30 KB) - PRODUCTION_MIGRATION_CHECKLIST.md (32 KB) - SYSTEM_HANDOVER_DOCUMENTATION.md (32 KB)</a:t>
            </a:r>
          </a:p>
          <a:p>
            <a:pPr lvl="0" indent="0" marL="0">
              <a:buNone/>
            </a:pPr>
            <a:r>
              <a:rPr b="1"/>
              <a:t>ML Implementation (6)</a:t>
            </a:r>
            <a:r>
              <a:rPr/>
              <a:t> - Phase 1-4 complete guides - Validation test results - Database integration documentation</a:t>
            </a:r>
          </a:p>
          <a:p>
            <a:pPr lvl="0" indent="0" marL="0">
              <a:buNone/>
            </a:pPr>
            <a:r>
              <a:rPr b="1"/>
              <a:t>Operations (4)</a:t>
            </a:r>
            <a:r>
              <a:rPr/>
              <a:t> - USER_TRAINING_GUIDE_OM_SM.md (33 KB) - PERFORMANCE_OPTIMIZATION_GUIDE.md (11 KB) - CI_CD_INTEGRATION_GUIDE.md (13 KB) - PRODUCTION_READINESS_REPORT (26 KB)</a:t>
            </a:r>
          </a:p>
          <a:p>
            <a:pPr lvl="0" indent="0" marL="0">
              <a:buNone/>
            </a:pPr>
            <a:r>
              <a:rPr b="1"/>
              <a:t>Business (2)</a:t>
            </a:r>
            <a:r>
              <a:rPr/>
              <a:t> - BUSINESS_CASE_GLASGOW_HSCP.md (36 KB) - SCOTTISH_POLICY_INTEGRATION_SUMMARY.md</a:t>
            </a:r>
          </a:p>
          <a:p>
            <a:pPr lvl="0" indent="0" marL="0">
              <a:buNone/>
            </a:pPr>
            <a:r>
              <a:rPr b="1"/>
              <a:t>Total:</a:t>
            </a:r>
            <a:r>
              <a:rPr/>
              <a:t> 17 documents, 293 KB</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16: BACKUP SLIDE - CONTACT &amp; SUPPORT</a:t>
            </a:r>
          </a:p>
          <a:p>
            <a:pPr lvl="0" indent="0" marL="0">
              <a:buNone/>
            </a:pPr>
            <a:r>
              <a:rPr b="1"/>
              <a:t>Title:</a:t>
            </a:r>
            <a:r>
              <a:rPr/>
              <a:t> Project Team &amp; Support</a:t>
            </a:r>
          </a:p>
          <a:p>
            <a:pPr lvl="0" indent="0" marL="0">
              <a:buNone/>
            </a:pPr>
            <a:r>
              <a:rPr b="1"/>
              <a:t>Content:</a:t>
            </a:r>
          </a:p>
          <a:p>
            <a:pPr lvl="0" indent="0" marL="0">
              <a:buNone/>
            </a:pPr>
            <a:r>
              <a:rPr b="1"/>
              <a:t>Project Leadership</a:t>
            </a:r>
            <a:r>
              <a:rPr/>
              <a:t> - </a:t>
            </a:r>
            <a:r>
              <a:rPr b="1"/>
              <a:t>Project Sponsor:</a:t>
            </a:r>
            <a:r>
              <a:rPr/>
              <a:t> [Name], HSCP Head of Service - </a:t>
            </a:r>
            <a:r>
              <a:rPr b="1"/>
              <a:t>Technical Lead:</a:t>
            </a:r>
            <a:r>
              <a:rPr/>
              <a:t> [Name], System Developer - </a:t>
            </a:r>
            <a:r>
              <a:rPr b="1"/>
              <a:t>Clinical Champion:</a:t>
            </a:r>
            <a:r>
              <a:rPr/>
              <a:t> [Name], Senior Operations Manager</a:t>
            </a:r>
          </a:p>
          <a:p>
            <a:pPr lvl="0" indent="0" marL="0">
              <a:buNone/>
            </a:pPr>
            <a:r>
              <a:rPr b="1"/>
              <a:t>CGI Technical Review Team</a:t>
            </a:r>
            <a:r>
              <a:rPr/>
              <a:t> - </a:t>
            </a:r>
            <a:r>
              <a:rPr b="1"/>
              <a:t>Security Lead:</a:t>
            </a:r>
            <a:r>
              <a:rPr/>
              <a:t> [TBD - CGI to assign] - </a:t>
            </a:r>
            <a:r>
              <a:rPr b="1"/>
              <a:t>Integration Architect:</a:t>
            </a:r>
            <a:r>
              <a:rPr/>
              <a:t> [TBD - CGI to assign] - </a:t>
            </a:r>
            <a:r>
              <a:rPr b="1"/>
              <a:t>Infrastructure Lead:</a:t>
            </a:r>
            <a:r>
              <a:rPr/>
              <a:t> [TBD - CGI to assign]</a:t>
            </a:r>
          </a:p>
          <a:p>
            <a:pPr lvl="0" indent="0" marL="0">
              <a:buNone/>
            </a:pPr>
            <a:r>
              <a:rPr b="1"/>
              <a:t>Support During Pilot</a:t>
            </a:r>
            <a:r>
              <a:rPr/>
              <a:t> - </a:t>
            </a:r>
            <a:r>
              <a:rPr b="1"/>
              <a:t>On-site support:</a:t>
            </a:r>
            <a:r>
              <a:rPr/>
              <a:t> Weeks 1-2 (full-time) - </a:t>
            </a:r>
            <a:r>
              <a:rPr b="1"/>
              <a:t>Remote support:</a:t>
            </a:r>
            <a:r>
              <a:rPr/>
              <a:t> Weeks 3-12 (same-day response) - </a:t>
            </a:r>
            <a:r>
              <a:rPr b="1"/>
              <a:t>Escalation:</a:t>
            </a:r>
            <a:r>
              <a:rPr/>
              <a:t> 24/7 critical issue hotline</a:t>
            </a:r>
          </a:p>
          <a:p>
            <a:pPr lvl="0" indent="0" marL="0">
              <a:buNone/>
            </a:pPr>
            <a:r>
              <a:rPr b="1"/>
              <a:t>Training Delivery</a:t>
            </a:r>
            <a:r>
              <a:rPr/>
              <a:t> - </a:t>
            </a:r>
            <a:r>
              <a:rPr b="1"/>
              <a:t>Week 1:</a:t>
            </a:r>
            <a:r>
              <a:rPr/>
              <a:t> System overview (all OMs, 2 hours) - </a:t>
            </a:r>
            <a:r>
              <a:rPr b="1"/>
              <a:t>Week 2:</a:t>
            </a:r>
            <a:r>
              <a:rPr/>
              <a:t> Leave management (hands-on, 3 hours) - </a:t>
            </a:r>
            <a:r>
              <a:rPr b="1"/>
              <a:t>Week 3:</a:t>
            </a:r>
            <a:r>
              <a:rPr/>
              <a:t> ML forecasts (data literacy, 2 hours) - </a:t>
            </a:r>
            <a:r>
              <a:rPr b="1"/>
              <a:t>Week 4:</a:t>
            </a:r>
            <a:r>
              <a:rPr/>
              <a:t> Advanced features (optimization, 2 hours)</a:t>
            </a:r>
          </a:p>
          <a:p>
            <a:pPr lvl="0" indent="0" marL="0">
              <a:buNone/>
            </a:pPr>
            <a:r>
              <a:rPr b="1"/>
              <a:t>Post-Go-Live</a:t>
            </a:r>
            <a:r>
              <a:rPr/>
              <a:t> - Monthly check-ins (first 6 months) - Quarterly performance reviews - Annual strategic planning sessions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[END OF SLIDES]</a:t>
            </a:r>
          </a:p>
          <a:p>
            <a:pPr lvl="0" indent="0" marL="0">
              <a:buNone/>
            </a:pPr>
            <a:r>
              <a:rPr b="1"/>
              <a:t>Total Slide Count:</a:t>
            </a:r>
            <a:r>
              <a:rPr/>
              <a:t> 16 slides (13 main + 3 backup)</a:t>
            </a:r>
            <a:br/>
            <a:r>
              <a:rPr b="1"/>
              <a:t>Presentation Duration:</a:t>
            </a:r>
            <a:r>
              <a:rPr/>
              <a:t> 42 minutes + 3-5 min Q&amp;A</a:t>
            </a:r>
          </a:p>
          <a:p>
            <a:pPr lvl="0" indent="0" marL="0">
              <a:buNone/>
            </a:pPr>
            <a:r>
              <a:rPr b="1"/>
              <a:t>File Format Instructions:</a:t>
            </a:r>
            <a:r>
              <a:rPr/>
              <a:t> To convert to PowerPoint: 1. Use Pandoc: </a:t>
            </a:r>
            <a:r>
              <a:rPr>
                <a:latin typeface="Courier"/>
              </a:rPr>
              <a:t>pandoc -o presentation.pptx -f markdown EXECUTIVE_PRESENTATION_SLIDES.md</a:t>
            </a:r>
            <a:r>
              <a:rPr/>
              <a:t> 2. Or manually create slides in PowerPoint using this content as reference 3. Add visual elements as specified in each slide description 4. Use Glasgow HSCP brand colors and logo 5. Include dashboard screenshots from live system</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2025-12-23T15:21:56Z</dcterms:created>
  <dcterms:modified xsi:type="dcterms:W3CDTF">2025-12-23T15:21:56Z</dcterms:modified>
</cp:coreProperties>
</file>

<file path=docProps/custom.xml><?xml version="1.0" encoding="utf-8"?>
<Properties xmlns="http://schemas.openxmlformats.org/officeDocument/2006/custom-properties" xmlns:vt="http://schemas.openxmlformats.org/officeDocument/2006/docPropsVTypes"/>
</file>